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Space Grotesk Light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883282-DF9C-40F1-A8BB-09E8B32A8C2F}">
  <a:tblStyle styleId="{49883282-DF9C-40F1-A8BB-09E8B32A8C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SpaceGroteskLigh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SpaceGrotesk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4a4020c1c8e790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4a4020c1c8e790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d1ebdf7c5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d1ebdf7c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10001100" cy="19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Analiza NYC Uber HVFHV podataka korišćenjem Apache Spark-a</a:t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Cilj projekta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 txBox="1"/>
          <p:nvPr>
            <p:ph idx="4294967295" type="body"/>
          </p:nvPr>
        </p:nvSpPr>
        <p:spPr>
          <a:xfrm>
            <a:off x="212450" y="847800"/>
            <a:ext cx="5505600" cy="3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Razvoj aplikacije za obradu velikog skupa podataka i poređenje dva pristupa: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samostalna aplikacija korišćenjem Pandas-a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distribuirana obrada korišćenjem Apache Spark-a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skladištenje podataka u HDFS-u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izvršavanje Spark aplikacije na klasteru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poređenje performansi dva pristupa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HVFHV skup podataka</a:t>
            </a:r>
            <a:endParaRPr/>
          </a:p>
        </p:txBody>
      </p:sp>
      <p:sp>
        <p:nvSpPr>
          <p:cNvPr id="332" name="Google Shape;332;p40"/>
          <p:cNvSpPr txBox="1"/>
          <p:nvPr>
            <p:ph idx="4294967295" type="body"/>
          </p:nvPr>
        </p:nvSpPr>
        <p:spPr>
          <a:xfrm>
            <a:off x="228600" y="1177425"/>
            <a:ext cx="5461200" cy="3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Korišćeni su podaci za celu 2021. godinu.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12 Parquet fajlova – jedan za svaki mesec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174.596.652 vožnje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Januar: 11.908.468 vožnji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o Uber/Lyft i drugim HVFHV vožnjama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dodatni </a:t>
            </a:r>
            <a:r>
              <a:rPr i="1" lang="en" sz="1400"/>
              <a:t>taxi_zone_lookup.csv</a:t>
            </a:r>
            <a:r>
              <a:rPr lang="en" sz="1400"/>
              <a:t> za lokacije</a:t>
            </a:r>
            <a:endParaRPr sz="1400"/>
          </a:p>
        </p:txBody>
      </p:sp>
      <p:sp>
        <p:nvSpPr>
          <p:cNvPr id="333" name="Google Shape;333;p40"/>
          <p:cNvSpPr txBox="1"/>
          <p:nvPr>
            <p:ph idx="4294967295" type="body"/>
          </p:nvPr>
        </p:nvSpPr>
        <p:spPr>
          <a:xfrm>
            <a:off x="5252900" y="2636925"/>
            <a:ext cx="3285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Primer atributa: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vreme preuzimanja i ostavljanja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pickup/dropoff lokacija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dužina i trajanje vožnje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cena vožnje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napojnica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zarada vozača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Tehnologije</a:t>
            </a:r>
            <a:endParaRPr/>
          </a:p>
        </p:txBody>
      </p:sp>
      <p:sp>
        <p:nvSpPr>
          <p:cNvPr id="339" name="Google Shape;339;p41"/>
          <p:cNvSpPr txBox="1"/>
          <p:nvPr>
            <p:ph idx="4294967295" type="body"/>
          </p:nvPr>
        </p:nvSpPr>
        <p:spPr>
          <a:xfrm>
            <a:off x="228600" y="1177425"/>
            <a:ext cx="5461200" cy="3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Python - implementacija aplikacije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Pandas - standalone obrada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PySpark - distribuirana obrada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Apache Spark 4.0.2 - processing engine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HDFS	distribuirano skladištenje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Docker - kontejnerizacija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Docker Compose	 - pokretanje kompletnog sistema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Parquet - format glavnog skupa podataka</a:t>
            </a:r>
            <a:endParaRPr sz="1400"/>
          </a:p>
        </p:txBody>
      </p:sp>
      <p:pic>
        <p:nvPicPr>
          <p:cNvPr id="340" name="Google Shape;3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825" y="1773175"/>
            <a:ext cx="1195324" cy="130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1843" y="3171218"/>
            <a:ext cx="2748824" cy="14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1850" y="2148623"/>
            <a:ext cx="1556026" cy="870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sistema </a:t>
            </a:r>
            <a:endParaRPr/>
          </a:p>
        </p:txBody>
      </p:sp>
      <p:pic>
        <p:nvPicPr>
          <p:cNvPr id="348" name="Google Shape;348;p42" title="Untitled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325" y="593400"/>
            <a:ext cx="2837350" cy="4396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HDFS</a:t>
            </a:r>
            <a:endParaRPr/>
          </a:p>
        </p:txBody>
      </p:sp>
      <p:sp>
        <p:nvSpPr>
          <p:cNvPr id="354" name="Google Shape;354;p43"/>
          <p:cNvSpPr txBox="1"/>
          <p:nvPr>
            <p:ph idx="4294967295" type="body"/>
          </p:nvPr>
        </p:nvSpPr>
        <p:spPr>
          <a:xfrm>
            <a:off x="228600" y="11774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NameNode upravlja metapodacima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DataNode čuva blokove podataka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Spark direktno čita Parquet fajlove iz HDFS-a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svih 12 meseci može se obraditi kao jedan skup podataka</a:t>
            </a:r>
            <a:endParaRPr sz="1400"/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850" y="967225"/>
            <a:ext cx="2454600" cy="2634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Obrada podataka</a:t>
            </a:r>
            <a:endParaRPr/>
          </a:p>
        </p:txBody>
      </p:sp>
      <p:sp>
        <p:nvSpPr>
          <p:cNvPr id="361" name="Google Shape;361;p44"/>
          <p:cNvSpPr txBox="1"/>
          <p:nvPr>
            <p:ph idx="4294967295" type="body"/>
          </p:nvPr>
        </p:nvSpPr>
        <p:spPr>
          <a:xfrm>
            <a:off x="212450" y="854675"/>
            <a:ext cx="4616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HVFHV Parquet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Učitavanje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Taxi Zone Lookup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JOIN po LocationID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Dodavanje vremenskih atributa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Filter / Sort / GroupBy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Statistička obrada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Rezultat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362" name="Google Shape;362;p44"/>
          <p:cNvSpPr txBox="1"/>
          <p:nvPr>
            <p:ph idx="4294967295" type="body"/>
          </p:nvPr>
        </p:nvSpPr>
        <p:spPr>
          <a:xfrm>
            <a:off x="3870225" y="3061075"/>
            <a:ext cx="46164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/>
              <a:t>taxi_zone_lookup.csv</a:t>
            </a:r>
            <a:r>
              <a:rPr lang="en" sz="1400"/>
              <a:t> se koristi za pretvaranje: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PULocationID → pickup_borough / pickup_zone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DOLocationID → dropoff_borough / dropoff_zone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Funkcionalnosti aplikacije</a:t>
            </a:r>
            <a:endParaRPr/>
          </a:p>
        </p:txBody>
      </p:sp>
      <p:sp>
        <p:nvSpPr>
          <p:cNvPr id="368" name="Google Shape;368;p45"/>
          <p:cNvSpPr txBox="1"/>
          <p:nvPr>
            <p:ph idx="4294967295" type="body"/>
          </p:nvPr>
        </p:nvSpPr>
        <p:spPr>
          <a:xfrm>
            <a:off x="419675" y="9837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CLI aplikacija gde su implementirane su dve osnovne operacije: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trips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filtriranje po datumu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pickup/dropoff lokaciji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udaljenosti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satu i danu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sortiranje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izbor atributa za prikaz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brojanje rezultata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stats - </a:t>
            </a:r>
            <a:r>
              <a:rPr lang="en" sz="1400"/>
              <a:t>grupisanje po izabranom atributu i računanje: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/>
              <a:t>count, min, max, mean, std, sum, median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vs Spark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6"/>
          <p:cNvSpPr txBox="1"/>
          <p:nvPr>
            <p:ph idx="4294967295" type="body"/>
          </p:nvPr>
        </p:nvSpPr>
        <p:spPr>
          <a:xfrm>
            <a:off x="212450" y="909150"/>
            <a:ext cx="51513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Pandas: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izvršavanje na jednoj mašini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se obrađuju u memoriji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jednostavna implementacija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problem sa veoma velikim skupom podataka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Spark: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distribuirana obrada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podeljeni na particije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dva worker-a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zadaci se izvršavaju paralelno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namenjen obradi velikih skupova podataka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75" name="Google Shape;37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00" y="4446075"/>
            <a:ext cx="8699800" cy="55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6"/>
          <p:cNvSpPr txBox="1"/>
          <p:nvPr/>
        </p:nvSpPr>
        <p:spPr>
          <a:xfrm>
            <a:off x="4464500" y="1251425"/>
            <a:ext cx="4625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Parquet → RAM → DataFrame → obrada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3963725" y="2848750"/>
            <a:ext cx="5066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HDFS → particije → executors → paralelna obrada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type="title"/>
          </p:nvPr>
        </p:nvSpPr>
        <p:spPr>
          <a:xfrm>
            <a:off x="212450" y="177900"/>
            <a:ext cx="7764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performansi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7"/>
          <p:cNvSpPr txBox="1"/>
          <p:nvPr>
            <p:ph idx="4294967295" type="body"/>
          </p:nvPr>
        </p:nvSpPr>
        <p:spPr>
          <a:xfrm>
            <a:off x="212450" y="2847025"/>
            <a:ext cx="6156000" cy="20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Za januar su izvršena po tri testa.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Za celu godinu Spark: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38,437 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37,388 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36,180 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Prosek: 37,335 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384" name="Google Shape;384;p47"/>
          <p:cNvGraphicFramePr/>
          <p:nvPr/>
        </p:nvGraphicFramePr>
        <p:xfrm>
          <a:off x="273500" y="12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{49883282-DF9C-40F1-A8BB-09E8B32A8C2F}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Dataset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Broj slogova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Pandas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Spark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Januar 2021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11.908.468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32,51 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15,97 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Cela 2021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174.596.652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Nedovoljno memorije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37,34 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